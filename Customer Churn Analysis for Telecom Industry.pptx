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9499" y="1460255"/>
            <a:ext cx="6445002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Customer Churn Analysis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for Telecom Industry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914176" y="3039442"/>
            <a:ext cx="331562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A0AEC0"/>
                </a:solidFill>
              </a:rPr>
              <a:t>Using SQL &amp; Machine Learning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2296018" y="3637731"/>
            <a:ext cx="4551936" cy="551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96018" y="3637731"/>
            <a:ext cx="4551936" cy="7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4"/>
          <p:cNvSpPr/>
          <p:nvPr/>
        </p:nvSpPr>
        <p:spPr>
          <a:xfrm>
            <a:off x="2296018" y="3812753"/>
            <a:ext cx="7824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Presented By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2296018" y="3991347"/>
            <a:ext cx="7824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Divakar Pal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07054" y="3812753"/>
            <a:ext cx="1683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Project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3307054" y="3991347"/>
            <a:ext cx="16830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Data Analytics Internship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218733" y="3812753"/>
            <a:ext cx="16292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Tools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218733" y="3991347"/>
            <a:ext cx="16292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SQL, Python, Scikit-learn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71437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Retaining Customers is More Cost-Effective</a:t>
            </a:r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Than Acquiring New Ones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50094" y="1728341"/>
            <a:ext cx="35433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6565"/>
                </a:solidFill>
              </a:rPr>
              <a:t>The Challenge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750094" y="2065883"/>
            <a:ext cx="32984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Customer churn is one of the biggest challenges in the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50094" y="2271601"/>
            <a:ext cx="10450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telecom industry.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50094" y="2668749"/>
            <a:ext cx="35433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Retention &gt;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750094" y="3274516"/>
            <a:ext cx="35433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Acquisition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750094" y="3894572"/>
            <a:ext cx="3294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Acquiring a new customer can cost up to 5x more than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50094" y="4100289"/>
            <a:ext cx="15330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retaining an existing one.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850606" y="1728341"/>
            <a:ext cx="35433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6565"/>
                </a:solidFill>
              </a:rPr>
              <a:t>Project Focus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850606" y="2051596"/>
            <a:ext cx="3543300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This project focuses on identifying customers who are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likely to churn and recommending strategies to reduce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churn rate.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By leveraging data-driven insights, we aim to transform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reactive measures into proactive retention strategies.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Project Objectives: Analyze, Predict, and Recommend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21519" y="1849785"/>
            <a:ext cx="118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Analyze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721519" y="2139107"/>
            <a:ext cx="11858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Deep dive into customer data to understand behavior and patterns.</a:t>
            </a:r>
            <a:endParaRPr lang="en-US" sz="727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644402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50294" y="2101602"/>
            <a:ext cx="118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Identify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2350294" y="2390924"/>
            <a:ext cx="11858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Pinpoint key factors and drivers that significantly affect churn.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1644402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79069" y="2101602"/>
            <a:ext cx="118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Build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3979069" y="2390924"/>
            <a:ext cx="11858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Develop a predictive machine learning model for churn forecasting.</a:t>
            </a:r>
            <a:endParaRPr lang="en-US" sz="727" dirty="0"/>
          </a:p>
        </p:txBody>
      </p:sp>
      <p:sp>
        <p:nvSpPr>
          <p:cNvPr id="12" name="Text 7"/>
          <p:cNvSpPr/>
          <p:nvPr/>
        </p:nvSpPr>
        <p:spPr>
          <a:xfrm>
            <a:off x="5607844" y="1849785"/>
            <a:ext cx="118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Segment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5607844" y="2139107"/>
            <a:ext cx="11858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Categorize customers based on their probability of churning.</a:t>
            </a:r>
            <a:endParaRPr lang="en-US" sz="72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394" y="1644402"/>
            <a:ext cx="214313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36619" y="2101602"/>
            <a:ext cx="118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Recommend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7236619" y="2390924"/>
            <a:ext cx="11858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Provide actionable business strategies for customer retention.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Dataset Overview: 7,043 Customers and 21 Features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92956" y="1644402"/>
            <a:ext cx="2643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Quick Stats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792956" y="2010519"/>
            <a:ext cx="2643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Dataset Name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792956" y="2203400"/>
            <a:ext cx="2643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Telco Customer Churn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92956" y="2690961"/>
            <a:ext cx="2643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Total Records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792956" y="2883843"/>
            <a:ext cx="2643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7,043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792956" y="3564285"/>
            <a:ext cx="2643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6565"/>
                </a:solidFill>
              </a:rPr>
              <a:t>Target Variable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92956" y="3757166"/>
            <a:ext cx="2643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56565"/>
                </a:solidFill>
              </a:rPr>
              <a:t>Churn (Yes/No)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4236244" y="1644402"/>
            <a:ext cx="40433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Key Features (21 Total)</a:t>
            </a:r>
            <a:endParaRPr lang="en-US" sz="987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994" y="2165003"/>
            <a:ext cx="100013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9163" y="2124819"/>
            <a:ext cx="4633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</a:rPr>
              <a:t>Tenure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2473970"/>
            <a:ext cx="71438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0588" y="2433786"/>
            <a:ext cx="11443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</a:rPr>
              <a:t>Monthly Charges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994" y="2782937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14875" y="2742754"/>
            <a:ext cx="9281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</a:rPr>
              <a:t>Contract Type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994" y="3091904"/>
            <a:ext cx="142875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2025" y="3051721"/>
            <a:ext cx="10621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</a:rPr>
              <a:t>Internet Service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994" y="3400871"/>
            <a:ext cx="128588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57738" y="3360688"/>
            <a:ext cx="11550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AEC0"/>
                </a:solidFill>
              </a:rPr>
              <a:t>Payment Method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236244" y="3769668"/>
            <a:ext cx="404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The dataset includes demographic information, account details, and service usage patterns to predict customer attrition.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SQL Analysis Reveals Key Churn Drivers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92956" y="1430089"/>
            <a:ext cx="3971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A0AEC0"/>
                </a:solidFill>
              </a:rPr>
              <a:t>Overall Churn Rate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792956" y="1656904"/>
            <a:ext cx="397192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F56565"/>
                </a:solidFill>
              </a:rPr>
              <a:t>~26%</a:t>
            </a:r>
            <a:endParaRPr lang="en-US" sz="3731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2958852"/>
            <a:ext cx="75009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5122" y="2930277"/>
            <a:ext cx="35754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A0AEC0"/>
                </a:solidFill>
              </a:rPr>
              <a:t>Month-to-month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contracts show the highest churn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propensity.</a:t>
            </a:r>
            <a:endParaRPr lang="en-US" sz="88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3461761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125" y="3433186"/>
            <a:ext cx="35504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Customers with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A0AEC0"/>
                </a:solidFill>
              </a:rPr>
              <a:t>low tenure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are significantly more likely to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leave.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3964670"/>
            <a:ext cx="62508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2620" y="3936095"/>
            <a:ext cx="358794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Higher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A0AEC0"/>
                </a:solidFill>
              </a:rPr>
              <a:t>monthly charges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directly correlate with increased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churn risk.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4467578"/>
            <a:ext cx="112514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12627" y="4439003"/>
            <a:ext cx="353794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A0AEC0"/>
                </a:solidFill>
              </a:rPr>
              <a:t>Electronic check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users churn more frequently than other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payment methods.</a:t>
            </a:r>
            <a:endParaRPr lang="en-US" sz="885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794" y="1358652"/>
            <a:ext cx="321468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Exploratory Data Analysis (EDA) Insights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92956" y="1501527"/>
            <a:ext cx="3450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6565"/>
                </a:solidFill>
              </a:rPr>
              <a:t>Distribution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792956" y="1722983"/>
            <a:ext cx="34504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Class Imbalance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92956" y="2071241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The dataset shows a significant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imbalance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 between churn and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non-churn customers, requiring careful handling during model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training to avoid bias.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900613" y="1501527"/>
            <a:ext cx="3450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6565"/>
                </a:solidFill>
              </a:rPr>
              <a:t>Tenure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900613" y="1722983"/>
            <a:ext cx="34504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Early Attrition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900613" y="2071241"/>
            <a:ext cx="34504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Customers with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short tenure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 (less than 6 months) exhibit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highest churn rates, indicating a critical onboarding period.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92956" y="3287464"/>
            <a:ext cx="3450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6565"/>
                </a:solidFill>
              </a:rPr>
              <a:t>Contracts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92956" y="3508921"/>
            <a:ext cx="34504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Contract Correlation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92956" y="3857179"/>
            <a:ext cx="34504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Month-to-month contracts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 are the strongest predictor of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churn, while long-term contracts significantly improve retention.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900613" y="3287464"/>
            <a:ext cx="34504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6565"/>
                </a:solidFill>
              </a:rPr>
              <a:t>Charges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900613" y="3508921"/>
            <a:ext cx="34504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Pricing Sensitivity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900613" y="3857179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A direct correlation exists between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high monthly charges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churn probability, suggesting price sensitivity among at-risk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segments.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Logistic Regression Model for Binary Classification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598861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7275" y="1572964"/>
            <a:ext cx="19366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6565"/>
                </a:solidFill>
              </a:rPr>
              <a:t>Model Building Process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957263" y="1939082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Data Cleaning: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Handling missing values and outliers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in the Telco dataset.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957263" y="2441990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Feature Encoding: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Converting categorical variables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into numerical formats for the model.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957263" y="2944899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Train-Test Split: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Partitioning data into 80% training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and 20% testing sets.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957263" y="3447808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Model Training: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Fitting the Logistic Regression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algorithm to the training data.</a:t>
            </a:r>
            <a:endParaRPr lang="en-US" sz="88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598861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4931" y="1572964"/>
            <a:ext cx="20327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6565"/>
                </a:solidFill>
              </a:rPr>
              <a:t>Why Logistic Regression?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5100638" y="1939082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Binary Classification: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Perfectly suited for the Yes/No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nature of customer churn.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5100638" y="2441990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Interpretability: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Provides clear insights into how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each feature impacts churn probability.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5100638" y="2944899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Efficiency: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 Computationally inexpensive and fast to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train on the 7,043 records.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Model Achieves 82.19% Accuracy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92956" y="1430089"/>
            <a:ext cx="35433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A0AEC0"/>
                </a:solidFill>
              </a:rPr>
              <a:t>Overall Model Accuracy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792956" y="1637258"/>
            <a:ext cx="3543300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F56565"/>
                </a:solidFill>
              </a:rPr>
              <a:t>82.19%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792956" y="2858839"/>
            <a:ext cx="3328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A0AEC0"/>
                </a:solidFill>
              </a:rPr>
              <a:t>Key Evaluation Metrics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92956" y="3251746"/>
            <a:ext cx="1369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Precision (Churn: True)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864629" y="3251746"/>
            <a:ext cx="2573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0.69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92956" y="3612505"/>
            <a:ext cx="11741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Recall (Churn: True)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864629" y="3612505"/>
            <a:ext cx="2573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0.60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92956" y="3973264"/>
            <a:ext cx="1336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0AEC0"/>
                </a:solidFill>
              </a:rPr>
              <a:t>F1-Score (Churn: True)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864629" y="3973264"/>
            <a:ext cx="2573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0.64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629150" y="1208633"/>
            <a:ext cx="3943350" cy="1749661"/>
          </a:xfrm>
          <a:prstGeom prst="rect">
            <a:avLst/>
          </a:prstGeom>
          <a:solidFill>
            <a:srgbClr val="000000"/>
          </a:solidFill>
          <a:ln w="9144">
            <a:solidFill>
              <a:srgbClr val="2D374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1315789"/>
            <a:ext cx="3714750" cy="15942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Customer Segmentation for Targeted Retention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014413" y="1539032"/>
            <a:ext cx="2357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Loyal Customers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1014413" y="1742629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Churn Probability: &lt; 40%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3514725" y="1552426"/>
            <a:ext cx="714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70%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1014413" y="2539157"/>
            <a:ext cx="2357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Dormant Customers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014413" y="2742754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Churn Probability: 40% – 70%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3514725" y="2552551"/>
            <a:ext cx="714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23.9%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1014413" y="3539282"/>
            <a:ext cx="2357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At Risk Customers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014413" y="3742879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Churn Probability: &gt; 70%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514725" y="3552676"/>
            <a:ext cx="714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6.05%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571500" y="4280446"/>
            <a:ext cx="38433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Segmentation allows for prioritized intervention, focusing high-touch retention efforts on the 6.05% of customers most likely to leave.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700588" y="1208633"/>
            <a:ext cx="3871913" cy="25723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2D374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351508"/>
            <a:ext cx="3571875" cy="23812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0344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</a:rPr>
              <a:t>Actionable Business Recommendations &amp; Conclusion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1519386"/>
            <a:ext cx="107156" cy="100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0113" y="1501527"/>
            <a:ext cx="11211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56565"/>
                </a:solidFill>
              </a:rPr>
              <a:t>At Risk Customers</a:t>
            </a:r>
            <a:endParaRPr lang="en-US" sz="68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69" y="1851571"/>
            <a:ext cx="75009" cy="857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53716" y="1822996"/>
            <a:ext cx="131710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Offer targeted discounts</a:t>
            </a:r>
            <a:endParaRPr lang="en-US" sz="834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69" y="2097305"/>
            <a:ext cx="96441" cy="857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75147" y="2068730"/>
            <a:ext cx="155644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Promote long-term contracts</a:t>
            </a:r>
            <a:endParaRPr lang="en-US" sz="834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69" y="2343038"/>
            <a:ext cx="85725" cy="857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64431" y="2314463"/>
            <a:ext cx="15743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Provide personalized support</a:t>
            </a:r>
            <a:endParaRPr lang="en-US" sz="834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6144" y="1519386"/>
            <a:ext cx="107156" cy="10001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614738" y="1501527"/>
            <a:ext cx="12710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CC94B"/>
                </a:solidFill>
              </a:rPr>
              <a:t>Dormant Customers</a:t>
            </a:r>
            <a:endParaRPr lang="en-US" sz="683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894" y="1851571"/>
            <a:ext cx="85725" cy="857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879056" y="1822996"/>
            <a:ext cx="147504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Re-engagement campaigns</a:t>
            </a:r>
            <a:endParaRPr lang="en-US" sz="834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894" y="2097305"/>
            <a:ext cx="107156" cy="8572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900488" y="2068730"/>
            <a:ext cx="123296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Exclusive bundle offers</a:t>
            </a:r>
            <a:endParaRPr lang="en-US" sz="834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1894" y="2343038"/>
            <a:ext cx="75009" cy="8572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868341" y="2314463"/>
            <a:ext cx="15133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Feature update notifications</a:t>
            </a:r>
            <a:endParaRPr lang="en-US" sz="834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769" y="1519386"/>
            <a:ext cx="119658" cy="100013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341864" y="1501527"/>
            <a:ext cx="10496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48BB78"/>
                </a:solidFill>
              </a:rPr>
              <a:t>Loyal Customers</a:t>
            </a:r>
            <a:endParaRPr lang="en-US" sz="683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6519" y="1851571"/>
            <a:ext cx="85725" cy="85725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593681" y="1822996"/>
            <a:ext cx="133925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Loyalty reward programs</a:t>
            </a:r>
            <a:endParaRPr lang="en-US" sz="834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6519" y="2097305"/>
            <a:ext cx="107156" cy="85725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615113" y="2068730"/>
            <a:ext cx="992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Referral incentives</a:t>
            </a:r>
            <a:endParaRPr lang="en-US" sz="834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6519" y="2343038"/>
            <a:ext cx="96441" cy="85725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604397" y="2314463"/>
            <a:ext cx="14904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0AEC0"/>
                </a:solidFill>
              </a:rPr>
              <a:t>Early access to new services</a:t>
            </a:r>
            <a:endParaRPr lang="en-US" sz="834" dirty="0"/>
          </a:p>
        </p:txBody>
      </p:sp>
      <p:sp>
        <p:nvSpPr>
          <p:cNvPr id="28" name="Shape 13"/>
          <p:cNvSpPr/>
          <p:nvPr/>
        </p:nvSpPr>
        <p:spPr>
          <a:xfrm>
            <a:off x="571500" y="3494633"/>
            <a:ext cx="8001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F56565"/>
            </a:solidFill>
            <a:prstDash val="solid"/>
          </a:ln>
        </p:spPr>
      </p:sp>
      <p:sp>
        <p:nvSpPr>
          <p:cNvPr id="29" name="Text 14"/>
          <p:cNvSpPr/>
          <p:nvPr/>
        </p:nvSpPr>
        <p:spPr>
          <a:xfrm>
            <a:off x="785813" y="3673227"/>
            <a:ext cx="7572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"By using data analysis and machine learning, we identified key churn drivers and provided actionable strategies to reduce customer attrition, ultimately driving long-term business growth and stability."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2026-02-20T09:14:16Z</dcterms:created>
  <dcterms:modified xsi:type="dcterms:W3CDTF">2026-02-20T09:14:16Z</dcterms:modified>
</cp:coreProperties>
</file>